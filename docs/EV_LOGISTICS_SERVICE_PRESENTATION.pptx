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2"/>
  </p:notesMasterIdLst>
  <p:sldIdLst>
    <p:sldId id="268" r:id="rId3"/>
    <p:sldId id="269" r:id="rId4"/>
    <p:sldId id="270" r:id="rId5"/>
    <p:sldId id="271" r:id="rId6"/>
    <p:sldId id="295" r:id="rId7"/>
    <p:sldId id="272" r:id="rId8"/>
    <p:sldId id="273" r:id="rId9"/>
    <p:sldId id="296" r:id="rId10"/>
    <p:sldId id="297" r:id="rId11"/>
    <p:sldId id="291" r:id="rId12"/>
    <p:sldId id="281" r:id="rId13"/>
    <p:sldId id="292" r:id="rId14"/>
    <p:sldId id="293" r:id="rId15"/>
    <p:sldId id="275" r:id="rId16"/>
    <p:sldId id="294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01CF1-03F5-43DC-A3C3-6060EFEC0527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21CE7-3309-4975-AFC2-7114E2911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0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EV 물류 배송 조회·에너지 예측 서비스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514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2DAF6"/>
                </a:solidFill>
                <a:latin typeface="맑은 고딕"/>
              </a:defRPr>
            </a:pPr>
            <a:r>
              <a:t>일일 배차부터 SOC 안전성, 충전 판단, 도착 예정시간까지 한 번에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부산항 신선대 컨테이너터미널 → 한진인천컨테이너터미널(HJIT) | 465.6km 고정 노선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A6BF"/>
                </a:solidFill>
                <a:latin typeface="맑은 고딕"/>
              </a:defRPr>
            </a:pPr>
            <a:r>
              <a:t>Service Presentation · Energy-aware Logistics Operations</a:t>
            </a:r>
          </a:p>
        </p:txBody>
      </p:sp>
    </p:spTree>
    <p:extLst>
      <p:ext uri="{BB962C8B-B14F-4D97-AF65-F5344CB8AC3E}">
        <p14:creationId xmlns:p14="http://schemas.microsoft.com/office/powerpoint/2010/main" val="112021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1. 배차 전 단계에서 운행 가능성을 먼저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사원번호와 배차일만 입력하면 차량·화물·배터리·충전·ETA를 자동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사원번호</a:t>
            </a:r>
            <a:r>
              <a:rPr dirty="0"/>
              <a:t> 8자리와 </a:t>
            </a:r>
            <a:r>
              <a:rPr dirty="0" err="1"/>
              <a:t>배차일을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입력에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재현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부산항</a:t>
            </a:r>
            <a:r>
              <a:rPr dirty="0"/>
              <a:t>–HJIT 465.6km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노선을</a:t>
            </a:r>
            <a:r>
              <a:rPr dirty="0"/>
              <a:t> 17개 </a:t>
            </a:r>
            <a:r>
              <a:rPr dirty="0" err="1"/>
              <a:t>구간으로</a:t>
            </a:r>
            <a:r>
              <a:rPr dirty="0"/>
              <a:t> </a:t>
            </a:r>
            <a:r>
              <a:rPr dirty="0" err="1"/>
              <a:t>분해해</a:t>
            </a:r>
            <a:r>
              <a:rPr dirty="0"/>
              <a:t> </a:t>
            </a:r>
            <a:r>
              <a:rPr dirty="0" err="1"/>
              <a:t>에너지와</a:t>
            </a:r>
            <a:r>
              <a:rPr dirty="0"/>
              <a:t> </a:t>
            </a:r>
            <a:r>
              <a:rPr dirty="0" err="1"/>
              <a:t>SOC를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SOC 10%를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충전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여부와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휴게소를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화면으로</a:t>
            </a:r>
            <a:r>
              <a:rPr dirty="0"/>
              <a:t> </a:t>
            </a:r>
            <a:r>
              <a:rPr dirty="0" err="1"/>
              <a:t>제공하고</a:t>
            </a:r>
            <a:r>
              <a:rPr dirty="0"/>
              <a:t> </a:t>
            </a:r>
            <a:r>
              <a:rPr dirty="0" err="1"/>
              <a:t>일일</a:t>
            </a:r>
            <a:r>
              <a:rPr dirty="0"/>
              <a:t> </a:t>
            </a:r>
            <a:r>
              <a:rPr dirty="0" err="1"/>
              <a:t>배차기록은</a:t>
            </a:r>
            <a:r>
              <a:rPr dirty="0"/>
              <a:t> </a:t>
            </a:r>
            <a:r>
              <a:rPr dirty="0" err="1"/>
              <a:t>CSV·Excel로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375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2. </a:t>
            </a:r>
            <a:r>
              <a:rPr lang="en-US" dirty="0"/>
              <a:t>FLOW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–</a:t>
            </a:r>
            <a:r>
              <a:rPr dirty="0" err="1"/>
              <a:t>예측</a:t>
            </a:r>
            <a:r>
              <a:rPr dirty="0"/>
              <a:t>–</a:t>
            </a:r>
            <a:r>
              <a:rPr dirty="0" err="1"/>
              <a:t>판정</a:t>
            </a:r>
            <a:r>
              <a:rPr dirty="0"/>
              <a:t>–</a:t>
            </a:r>
            <a:r>
              <a:rPr dirty="0" err="1"/>
              <a:t>기록으로</a:t>
            </a:r>
            <a:r>
              <a:rPr dirty="0"/>
              <a:t> </a:t>
            </a:r>
            <a:r>
              <a:rPr dirty="0" err="1"/>
              <a:t>단순화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사원번호·배차일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1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차량·화물·운행조건 자동 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59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17개 구간별 에너지·SOC 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1874519"/>
            <a:ext cx="73152" cy="1874519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충전 필요성과 ETA 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29800" y="1874519"/>
            <a:ext cx="73152" cy="1874519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배차 허가 결과 저장</a:t>
            </a:r>
          </a:p>
        </p:txBody>
      </p:sp>
    </p:spTree>
    <p:extLst>
      <p:ext uri="{BB962C8B-B14F-4D97-AF65-F5344CB8AC3E}">
        <p14:creationId xmlns:p14="http://schemas.microsoft.com/office/powerpoint/2010/main" val="185155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3. 입력은 최소화하고 운영 변수는 일관되게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사용자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사원번호 8자리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배차일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32588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운행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차량·박스 수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평균속도·HVAC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32588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자동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출발 SOC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운전성향·화물량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SHA-256 기반 seed로 동일 사원번호·배차일 조합의 재현성을 확보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화물은 1박스 10kg 기준, 최초 조회 시 3~10박스 범위에서 자동 배정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평균속도는 100km/h를 기본값으로 두고 5km/h 단위 운영 시나리오 반영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운전성향은 Eco / Normal / Aggressive 구간으로 분류해 소비율 보정에 활용</a:t>
            </a:r>
          </a:p>
        </p:txBody>
      </p:sp>
    </p:spTree>
    <p:extLst>
      <p:ext uri="{BB962C8B-B14F-4D97-AF65-F5344CB8AC3E}">
        <p14:creationId xmlns:p14="http://schemas.microsoft.com/office/powerpoint/2010/main" val="332831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95300"/>
            <a:ext cx="1000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차량 기본값은 적재·공기압·SOC 기준을 표준화한다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33" y="1000125"/>
            <a:ext cx="98105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Volvo FH Electric 10대 기준 공기압 범위와 출발 SOC 기준값을 모델 입력으로 관리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191250"/>
            <a:ext cx="10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vehicle_fleet.csv / service default configuration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4-A</a:t>
            </a:r>
            <a:endParaRPr lang="en-US" sz="1050" dirty="0"/>
          </a:p>
        </p:txBody>
      </p:sp>
      <p:pic>
        <p:nvPicPr>
          <p:cNvPr id="1001" name="Vehicle fleet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31643"/>
            <a:ext cx="10706100" cy="42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7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4. 결과 화면은 운영자가 즉시 판단할 지표만 전면 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배차 허가, 충전 필요성, 예상 도착시간을 한 화면에서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904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사원번호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928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12345678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4904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차량번호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7호차 (Volvo FH)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60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6032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7249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출발 SOC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27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65% · 안전 기준 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7249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화물량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27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8박스 / 총 80kg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94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79476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9593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충전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필요 시 운영 가능 휴게소 추천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9593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출발·도착 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10:00 → 16:42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29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502920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1937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예상 소비량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5961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537.1kWh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29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502920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8232" y="51937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모델 신뢰도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5961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설명력 94.2% / 오차 ±0.89</a:t>
            </a:r>
          </a:p>
        </p:txBody>
      </p:sp>
    </p:spTree>
    <p:extLst>
      <p:ext uri="{BB962C8B-B14F-4D97-AF65-F5344CB8AC3E}">
        <p14:creationId xmlns:p14="http://schemas.microsoft.com/office/powerpoint/2010/main" val="11516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5. 모델은 설명 가능한 회귀 구조로 운영 안정성을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73996"/>
            <a:ext cx="73152" cy="132588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모델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Feature Engineering</a:t>
            </a:r>
          </a:p>
          <a:p>
            <a:pPr>
              <a:defRPr sz="19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+ Linear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73996"/>
            <a:ext cx="73152" cy="132588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설명력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R² 0.9417</a:t>
            </a:r>
          </a:p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화면</a:t>
            </a:r>
            <a:r>
              <a:rPr dirty="0"/>
              <a:t> 94.2%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973996"/>
            <a:ext cx="73152" cy="132588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예상 오차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t>RMSE 0.887</a:t>
            </a:r>
          </a:p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t>kWh/100km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8717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기본 변수: 속도, 화물량, 온도, HVAC, 경사, 운전성향, 타이어 공기압, 거리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파생 변수: 속도², 온도 편차, 적재량×경사도, HVAC×온도 등 소비 민감도 반영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StandardScaler 적용 후 models/energy_model.joblib을 재사용해 반복 학습 없이 빠르게 응답</a:t>
            </a:r>
          </a:p>
        </p:txBody>
      </p:sp>
    </p:spTree>
    <p:extLst>
      <p:ext uri="{BB962C8B-B14F-4D97-AF65-F5344CB8AC3E}">
        <p14:creationId xmlns:p14="http://schemas.microsoft.com/office/powerpoint/2010/main" val="119591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저장 모델은 운영 화면에 바로 쓸 수 있는 오차 범위를 제공한다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모델 설명력과 오차 지표를 화면 표기값으로 변환해 운영자가 신뢰도를 해석할 수 있게 구성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783" y="1381125"/>
            <a:ext cx="10820129" cy="436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3882" y="6000750"/>
            <a:ext cx="9524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saved energy model evaluation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5-A</a:t>
            </a:r>
            <a:endParaRPr lang="en-US" sz="1050" dirty="0"/>
          </a:p>
        </p:txBody>
      </p:sp>
      <p:pic>
        <p:nvPicPr>
          <p:cNvPr id="1001" name="Model performanc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51361"/>
            <a:ext cx="10820400" cy="34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81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에너지 소비율은 경사·적재·속도 변수가 가장 크게 설명한다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표준화 계수 기준 상위 입력 변수를 확인해 서비스 보정과 현장 해석의 근거로 활용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57229" y="1333500"/>
            <a:ext cx="10477238" cy="476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5328" y="6286500"/>
            <a:ext cx="93342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standardized linear regression coefficients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5-B</a:t>
            </a:r>
            <a:endParaRPr lang="en-US" sz="1050" dirty="0"/>
          </a:p>
        </p:txBody>
      </p:sp>
      <p:pic>
        <p:nvPicPr>
          <p:cNvPr id="1001" name="Feature influenc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97" y="1333500"/>
            <a:ext cx="838780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9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학습 데이터 스키마는 실제 운행·환경·차량 상태를 함께 반영한다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모델 입력 컬럼을 명확히 제시해 예측값이 어떤 운행 조건을 기반으로 산출되는지 설명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42971" y="1409700"/>
            <a:ext cx="9905752" cy="440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81070" y="6076950"/>
            <a:ext cx="9524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ML training dataset schema, 8,000 rows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67208" y="6381750"/>
            <a:ext cx="2149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5-C</a:t>
            </a:r>
            <a:endParaRPr lang="en-US" sz="1050" dirty="0"/>
          </a:p>
        </p:txBody>
      </p:sp>
      <p:pic>
        <p:nvPicPr>
          <p:cNvPr id="1001" name="Training dataset sch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918" y="1879600"/>
            <a:ext cx="1125016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43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6. 17개 구간별 예측으로 평균값의 한계를 줄임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거리·평균경사·운행조건을 구간 단위로 입력해 SOC를 순차 차감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각 구간의 거리·평균경사를 독립 변수로 입력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예측 소비율을 거리 기준 소비에너지로 환산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SOC가 10%에 근접하면 운영 가능 휴게소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417320"/>
            <a:ext cx="73152" cy="118872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9712" y="158191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계산 단위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98424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17개 구간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1732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1417320"/>
            <a:ext cx="73152" cy="118872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4312" y="158191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총거리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198424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465.6km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92608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926080"/>
            <a:ext cx="73152" cy="11887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9712" y="30906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경사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49300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DEM 기반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구간 평균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92608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2926080"/>
            <a:ext cx="73152" cy="11887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30906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테스트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349300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약 537.1kWh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C7A"/>
                </a:solidFill>
                <a:latin typeface="맑은 고딕"/>
              </a:defRPr>
            </a:pPr>
            <a:r>
              <a:t>경사도는 Copernicus DEM 지점 고도 차이로 산출한 평균값이며, 실제 도로의 순간 최대경사·터널·교량 고도와는 차이가 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13566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부산항–HJIT 노선은 중반부 고도 변화가 SOC 리스크를 만든다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구간별 고도와 평균경사를 함께 확인해 단순 평균 소비율보다 정교한 에너지 예측 근거를 제시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OpenStreetMap coordinates + Open-Meteo Copernicus DEM elevation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6-A</a:t>
            </a:r>
            <a:endParaRPr lang="en-US" sz="1050" dirty="0"/>
          </a:p>
        </p:txBody>
      </p:sp>
      <p:pic>
        <p:nvPicPr>
          <p:cNvPr id="1001" name="Route elevation and gr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46" y="1841500"/>
            <a:ext cx="13086108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6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구간별 소비에너지 차이를 보여 충전 판단의 근거를 강화한다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휴게소 사이 17개 구간의 예상 소비량을 비교해 SOC 하락이 큰 구간을 운영자가 즉시 파악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Scenario: 100km/h average speed, 80kg payload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6-B</a:t>
            </a:r>
            <a:endParaRPr lang="en-US" sz="1050" dirty="0"/>
          </a:p>
        </p:txBody>
      </p:sp>
      <p:pic>
        <p:nvPicPr>
          <p:cNvPr id="1001" name="Segment energy predi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75" y="1841500"/>
            <a:ext cx="129722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7. 충전 로직은 안전 SOC를 지키면서 정차 횟수를 줄임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출발 기준: 배차일 10:00, 출발 SOC는 50~90% 범위에서 5% 단위 자동 생성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안전 판정: 각 구간 도착 후 SOC가 최소 10% 이상인지 순차 검증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충전 후보: 충전 출력이 확인되고 운영 가능한 휴게소만 추천 대상에 포함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충전 정책: 필요한 경우에만 100%까지 충전해 불필요한 정차를 억제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ETA 산정: 주행시간 + 충전시간 + 1회당 추가 정차시간 7분을 합산</a:t>
            </a:r>
          </a:p>
        </p:txBody>
      </p:sp>
    </p:spTree>
    <p:extLst>
      <p:ext uri="{BB962C8B-B14F-4D97-AF65-F5344CB8AC3E}">
        <p14:creationId xmlns:p14="http://schemas.microsoft.com/office/powerpoint/2010/main" val="732897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충전 추천은 출력 검증과 운영 가능 여부를 먼저 필터링한다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거리별 휴게소와 검증된 충전 출력을 함께 배치해 추천 제외 사유까지 투명하게 설명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Green: usable · Red: excluded / unverified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7-A</a:t>
            </a:r>
            <a:endParaRPr lang="en-US" sz="1050" dirty="0"/>
          </a:p>
        </p:txBody>
      </p:sp>
      <p:pic>
        <p:nvPicPr>
          <p:cNvPr id="1001" name="Charging station availabi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946" y="1841500"/>
            <a:ext cx="13076107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6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8. 공개 고도 데이터로 경사 입력을 보강하되 한계를 명시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기존 프로젝트 파일에는 거리·충전기·운영 상태만 있고 경사·고도 컬럼은 부재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출발지·도착지·16개 휴게소 좌표는 OpenStreetMap Nominatim으로 조회·보정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고도는 Open-Meteo Elevation API의 Copernicus DEM 값을 사용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도로 종단선형 자료를 확보하지 못해 지점 고도 차이 기반 구간 평균경사를 적용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향후 상용 정확도 향상을 위해 실차 GPS·고도 로그 또는 도로 중심선 프로파일로 교체 필요</a:t>
            </a:r>
          </a:p>
        </p:txBody>
      </p:sp>
    </p:spTree>
    <p:extLst>
      <p:ext uri="{BB962C8B-B14F-4D97-AF65-F5344CB8AC3E}">
        <p14:creationId xmlns:p14="http://schemas.microsoft.com/office/powerpoint/2010/main" val="2504523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9. 화면 동작과 저장 범위를 운영 기준에 맞게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조회 결과 확인 중에는 사원번호와 배차일을 읽기 전용으로 잠가 오입력 방지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배차 상세정보, 에너지·충전 정보, 노선 정보, 충전소 정보는 접기/펼치기 영역으로 분리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노선 정보에는 17개 구간의 거리, 고도차, 평균경사, 경사각도, 소비율, 소비에너지를 순서대로 표시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일일 배차기록 파일에는 사원번호, 차량번호, 배차 허가 여부만 저장하고 날짜는 파일명에만 반영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메인화면으로 돌아가기 시 조회 결과와 사원번호 입력값을 초기화</a:t>
            </a:r>
          </a:p>
        </p:txBody>
      </p:sp>
    </p:spTree>
    <p:extLst>
      <p:ext uri="{BB962C8B-B14F-4D97-AF65-F5344CB8AC3E}">
        <p14:creationId xmlns:p14="http://schemas.microsoft.com/office/powerpoint/2010/main" val="223235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10. 실제 사용화면은 4개 캡처로 서비스 완성도를 증명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입력 화면, 핵심 결과, 상세 충전 정보, 배차기록 저장 흐름을 순서대로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606C7A"/>
                </a:solidFill>
                <a:latin typeface="맑은 고딕"/>
              </a:defRPr>
            </a:pPr>
            <a:r>
              <a:t>[ 실제 Streamlit 화면 캡처 삽입 영역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① 사원번호 조회 및 운행조건  ② 운행 정보 핵심 결과  ③ 상세 운행·충전 정보  ④ CSV/Excel 저장 및 초기화</a:t>
            </a:r>
          </a:p>
        </p:txBody>
      </p:sp>
    </p:spTree>
    <p:extLst>
      <p:ext uri="{BB962C8B-B14F-4D97-AF65-F5344CB8AC3E}">
        <p14:creationId xmlns:p14="http://schemas.microsoft.com/office/powerpoint/2010/main" val="3295571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11. 배차 의사결정을 사후 확인에서 사전 리스크 관리로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운영자는 배차 전에 차량·화물·SOC·충전 가능성을 한 화면에서 확인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구간별 거리·경사 기반 예측으로 위험 구간과 충전 필요 시점을 조기 파악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저장 모델 재사용으로 반복 학습 없이 빠른 조회 응답과 일관된 결과 제공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향후 실차 운행 로그, 실시간 교통, 충전소 혼잡·고장 데이터를 결합해 예측 정확도와 현장성을 고도화</a:t>
            </a:r>
          </a:p>
        </p:txBody>
      </p:sp>
    </p:spTree>
    <p:extLst>
      <p:ext uri="{BB962C8B-B14F-4D97-AF65-F5344CB8AC3E}">
        <p14:creationId xmlns:p14="http://schemas.microsoft.com/office/powerpoint/2010/main" val="279312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AD2C8ED-BB0F-4A19-98C5-5B3C98C30D51}">
  <we:reference id="wa200005566" version="3.0.1.2" store="ko-KR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FFE88AF-63D2-4E20-8681-13EFFD4C5B23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bd9e2812-74d8-4c7d-8d5e-b2339d7bf9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1095</Words>
  <Application>Microsoft Office PowerPoint</Application>
  <PresentationFormat>와이드스크린</PresentationFormat>
  <Paragraphs>158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Helvetica Neue</vt:lpstr>
      <vt:lpstr>맑은 고딕</vt:lpstr>
      <vt:lpstr>Arial</vt:lpstr>
      <vt:lpstr>Calibri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2026-08-28T07:17:13Z</dcterms:modified>
  <cp:category/>
</cp:coreProperties>
</file>